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4"/>
  </p:sldMasterIdLst>
  <p:sldIdLst>
    <p:sldId id="257" r:id="rId5"/>
    <p:sldId id="260" r:id="rId6"/>
    <p:sldId id="258" r:id="rId7"/>
    <p:sldId id="266" r:id="rId8"/>
    <p:sldId id="259" r:id="rId9"/>
    <p:sldId id="262" r:id="rId10"/>
    <p:sldId id="269" r:id="rId11"/>
    <p:sldId id="263" r:id="rId12"/>
    <p:sldId id="261" r:id="rId13"/>
    <p:sldId id="265" r:id="rId14"/>
    <p:sldId id="270" r:id="rId15"/>
    <p:sldId id="264" r:id="rId16"/>
    <p:sldId id="268" r:id="rId17"/>
    <p:sldId id="267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710466-005B-C93A-D229-7BD6C2E15F67}" v="146" dt="2026-10-07T20:15:34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50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59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00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43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98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0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8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0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0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0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23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pson.cz/cs_CZ/produkty/projector/c/projector?.com" TargetMode="External"/><Relationship Id="rId2" Type="http://schemas.openxmlformats.org/officeDocument/2006/relationships/hyperlink" Target="https://projectorsgeek.com/dlp-vs-lcd-vs-led-projector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anada.ca/en/heritage-information-network/services/digitization/scan-reflective-objects.html?.com" TargetMode="External"/><Relationship Id="rId5" Type="http://schemas.openxmlformats.org/officeDocument/2006/relationships/hyperlink" Target="https://global.canon/en/technology/s_labo/light/003/07.html?.com" TargetMode="External"/><Relationship Id="rId4" Type="http://schemas.openxmlformats.org/officeDocument/2006/relationships/hyperlink" Target="https://www.hp.com/in-en/tech-takes/printers/guide/how-to-pick-best-scanner.html?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F83EBF-80E1-B5A9-8757-7C62F2FD74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0006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84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CC5E73D-8258-3F7C-5C48-D33FB27D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b="1" dirty="0"/>
              <a:t>Skenery – druhy</a:t>
            </a:r>
            <a:br>
              <a:rPr lang="cs-CZ" b="1" dirty="0"/>
            </a:br>
            <a:endParaRPr lang="cs-CZ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55915D-8B09-30A2-F3D8-C120E1E66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1992"/>
            <a:ext cx="6239599" cy="3941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Hlavní druhy skenerů:</a:t>
            </a:r>
            <a:endParaRPr lang="cs-CZ" dirty="0"/>
          </a:p>
          <a:p>
            <a:pPr lvl="1"/>
            <a:r>
              <a:rPr lang="cs-CZ" b="1" dirty="0"/>
              <a:t>Plošné (</a:t>
            </a:r>
            <a:r>
              <a:rPr lang="cs-CZ" b="1" dirty="0" err="1"/>
              <a:t>Flatbed</a:t>
            </a:r>
            <a:r>
              <a:rPr lang="cs-CZ" b="1" dirty="0"/>
              <a:t>):</a:t>
            </a:r>
            <a:r>
              <a:rPr lang="cs-CZ" dirty="0"/>
              <a:t> Nejpoužívanější, předloha se klade na skleněnou desku.</a:t>
            </a:r>
          </a:p>
          <a:p>
            <a:pPr lvl="1"/>
            <a:r>
              <a:rPr lang="cs-CZ" b="1" dirty="0"/>
              <a:t>Ruční:</a:t>
            </a:r>
            <a:r>
              <a:rPr lang="cs-CZ" dirty="0"/>
              <a:t> Převádějí se tahem přes dokument</a:t>
            </a:r>
          </a:p>
          <a:p>
            <a:pPr lvl="1"/>
            <a:r>
              <a:rPr lang="cs-CZ" b="1" dirty="0"/>
              <a:t>Bubnové:</a:t>
            </a:r>
            <a:r>
              <a:rPr lang="cs-CZ" dirty="0"/>
              <a:t> Profesionální grafické skenery s extrémním rozlišením (předloha se upevní na otáčející se válec).</a:t>
            </a:r>
          </a:p>
          <a:p>
            <a:pPr lvl="1"/>
            <a:r>
              <a:rPr lang="cs-CZ" b="1" dirty="0"/>
              <a:t>Filmové / </a:t>
            </a:r>
            <a:r>
              <a:rPr lang="cs-CZ" b="1" dirty="0" err="1"/>
              <a:t>Diaskenery</a:t>
            </a:r>
            <a:r>
              <a:rPr lang="cs-CZ" b="1" dirty="0"/>
              <a:t>:</a:t>
            </a:r>
            <a:r>
              <a:rPr lang="cs-CZ" dirty="0"/>
              <a:t> Speciálně určené pro kinofilm a diapozitivy.</a:t>
            </a:r>
          </a:p>
          <a:p>
            <a:pPr lvl="1"/>
            <a:r>
              <a:rPr lang="cs-CZ" b="1" dirty="0" err="1"/>
              <a:t>Podavačové</a:t>
            </a:r>
            <a:r>
              <a:rPr lang="cs-CZ" b="1" dirty="0"/>
              <a:t> (ADF):</a:t>
            </a:r>
            <a:r>
              <a:rPr lang="cs-CZ" dirty="0"/>
              <a:t> Skenují hromadně listy papíru pomocí automatického podavače</a:t>
            </a:r>
          </a:p>
          <a:p>
            <a:endParaRPr lang="cs-CZ" dirty="0"/>
          </a:p>
        </p:txBody>
      </p:sp>
      <p:pic>
        <p:nvPicPr>
          <p:cNvPr id="4" name="Picture 3" descr="Skenery diapozitivů a negativů">
            <a:extLst>
              <a:ext uri="{FF2B5EF4-FFF2-40B4-BE49-F238E27FC236}">
                <a16:creationId xmlns:a16="http://schemas.microsoft.com/office/drawing/2014/main" id="{99F99917-3BE4-3128-FEF9-5457B979CD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71" r="39172" b="-1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74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4B65A60-DD9C-547B-EFED-8C07B578F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sz="3400" b="1"/>
              <a:t>Plošný skener – Detail a princip činnosti</a:t>
            </a:r>
            <a:br>
              <a:rPr lang="cs-CZ" sz="3400" b="1"/>
            </a:br>
            <a:endParaRPr lang="cs-CZ" sz="3400"/>
          </a:p>
        </p:txBody>
      </p:sp>
      <p:cxnSp>
        <p:nvCxnSpPr>
          <p:cNvPr id="11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Epson Perfection V19 II Color Photo and Document Flatbed Scanner ...">
            <a:extLst>
              <a:ext uri="{FF2B5EF4-FFF2-40B4-BE49-F238E27FC236}">
                <a16:creationId xmlns:a16="http://schemas.microsoft.com/office/drawing/2014/main" id="{64AF4348-8566-72E0-0AC9-DBB3AA4CE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221156"/>
            <a:ext cx="5138688" cy="2941898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3B04F25-1C59-D4E3-004F-8AFC006DB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1700" b="1"/>
              <a:t>Princip činnosti:</a:t>
            </a:r>
            <a:endParaRPr lang="cs-CZ" sz="1700"/>
          </a:p>
          <a:p>
            <a:pPr lvl="1"/>
            <a:r>
              <a:rPr lang="cs-CZ" sz="1700"/>
              <a:t>Předloha je položena líce</a:t>
            </a:r>
            <a:r>
              <a:rPr lang="cs-CZ" sz="1700">
                <a:ea typeface="+mn-lt"/>
                <a:cs typeface="+mn-lt"/>
              </a:rPr>
              <a:t>  </a:t>
            </a:r>
            <a:r>
              <a:rPr lang="cs-CZ" sz="1700"/>
              <a:t>m dolů na skleněnou desku.</a:t>
            </a:r>
          </a:p>
          <a:p>
            <a:pPr lvl="1"/>
            <a:r>
              <a:rPr lang="cs-CZ" sz="1700"/>
              <a:t>Pod sklem se pohybuje snímací hlava osazená světelným zdrojem (dnes nejčastěji LED diody) a optickou soustavou (zrcadla a čočka).</a:t>
            </a:r>
          </a:p>
          <a:p>
            <a:pPr lvl="1"/>
            <a:r>
              <a:rPr lang="cs-CZ" sz="1700"/>
              <a:t>Světlo odražené od předlohy je posláno na světelný snímač (nejčastěji </a:t>
            </a:r>
            <a:r>
              <a:rPr lang="cs-CZ" sz="1700" b="1"/>
              <a:t>CCD čidlo</a:t>
            </a:r>
            <a:r>
              <a:rPr lang="cs-CZ" sz="1700"/>
              <a:t>).</a:t>
            </a:r>
          </a:p>
          <a:p>
            <a:r>
              <a:rPr lang="cs-CZ" sz="1700" b="1"/>
              <a:t>CCD čidlo (Charge-Coupled Device):</a:t>
            </a:r>
            <a:endParaRPr lang="cs-CZ" sz="1700"/>
          </a:p>
          <a:p>
            <a:pPr lvl="1"/>
            <a:r>
              <a:rPr lang="cs-CZ" sz="1700"/>
              <a:t>Polovodičový prvek složený z milionů fotocitlivých buněk (pixelů).</a:t>
            </a:r>
          </a:p>
          <a:p>
            <a:pPr lvl="1"/>
            <a:r>
              <a:rPr lang="cs-CZ" sz="1700"/>
              <a:t>Převádí dopadající světlo na elektrický náboj, který se následně mění na digitální data (A/D převodník).</a:t>
            </a:r>
          </a:p>
          <a:p>
            <a:pPr lvl="1"/>
            <a:r>
              <a:rPr lang="cs-CZ" sz="1700" i="1"/>
              <a:t>(Alternativa:</a:t>
            </a:r>
            <a:r>
              <a:rPr lang="cs-CZ" sz="1700"/>
              <a:t> </a:t>
            </a:r>
            <a:r>
              <a:rPr lang="cs-CZ" sz="1700" b="1"/>
              <a:t>CIS</a:t>
            </a:r>
            <a:r>
              <a:rPr lang="cs-CZ" sz="1700"/>
              <a:t> snímače – levnější, tenčí, ale mají menší hloubku ostrosti).*</a:t>
            </a:r>
          </a:p>
          <a:p>
            <a:endParaRPr lang="cs-CZ" sz="1700"/>
          </a:p>
        </p:txBody>
      </p:sp>
    </p:spTree>
    <p:extLst>
      <p:ext uri="{BB962C8B-B14F-4D97-AF65-F5344CB8AC3E}">
        <p14:creationId xmlns:p14="http://schemas.microsoft.com/office/powerpoint/2010/main" val="3406328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A4A8A36-0D95-51F7-F220-CE015E350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cs-CZ" dirty="0"/>
              <a:t> </a:t>
            </a:r>
            <a:endParaRPr lang="cs-CZ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What is Scanner? - GeeksforGeeks">
            <a:extLst>
              <a:ext uri="{FF2B5EF4-FFF2-40B4-BE49-F238E27FC236}">
                <a16:creationId xmlns:a16="http://schemas.microsoft.com/office/drawing/2014/main" id="{EA9E23A3-8168-39A7-E01F-34AADC685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155135"/>
            <a:ext cx="6072188" cy="2853928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6E62CC-3872-56DB-A6C2-DD415C307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txBody>
          <a:bodyPr anchor="b">
            <a:normAutofit/>
          </a:bodyPr>
          <a:lstStyle/>
          <a:p>
            <a:r>
              <a:rPr lang="cs-CZ" b="1" dirty="0"/>
              <a:t>CCD čidlo (</a:t>
            </a:r>
            <a:r>
              <a:rPr lang="cs-CZ" b="1" dirty="0" err="1"/>
              <a:t>Charge-Coupled</a:t>
            </a:r>
            <a:r>
              <a:rPr lang="cs-CZ" b="1" dirty="0"/>
              <a:t> </a:t>
            </a:r>
            <a:r>
              <a:rPr lang="cs-CZ" b="1" dirty="0" err="1"/>
              <a:t>Device</a:t>
            </a:r>
            <a:r>
              <a:rPr lang="cs-CZ" b="1" dirty="0"/>
              <a:t>):</a:t>
            </a:r>
            <a:endParaRPr lang="cs-CZ"/>
          </a:p>
          <a:p>
            <a:pPr lvl="1"/>
            <a:r>
              <a:rPr lang="cs-CZ" dirty="0"/>
              <a:t>Polovodičový prvek složený z milionů fotocitlivých buněk (pixelů).</a:t>
            </a:r>
            <a:endParaRPr lang="cs-CZ"/>
          </a:p>
          <a:p>
            <a:pPr lvl="1"/>
            <a:r>
              <a:rPr lang="cs-CZ" dirty="0"/>
              <a:t>Převádí dopadající světlo na elektrický náboj, který se následně mění na digitální data (A/D převodník).</a:t>
            </a:r>
            <a:endParaRPr lang="cs-CZ"/>
          </a:p>
          <a:p>
            <a:pPr lvl="1"/>
            <a:r>
              <a:rPr lang="cs-CZ" i="1" dirty="0"/>
              <a:t>(Alternativa:</a:t>
            </a:r>
            <a:r>
              <a:rPr lang="cs-CZ" dirty="0"/>
              <a:t> </a:t>
            </a:r>
            <a:r>
              <a:rPr lang="cs-CZ" b="1" dirty="0"/>
              <a:t>CIS</a:t>
            </a:r>
            <a:r>
              <a:rPr lang="cs-CZ" dirty="0"/>
              <a:t> snímače – levnější, tenčí, ale mají menší hloubku ostrosti).*</a:t>
            </a:r>
            <a:endParaRPr lang="cs-CZ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cs-CZ" altLang="cs-CZ">
              <a:latin typeface="Arial" panose="020B060402020202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441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42993E1-A576-5DE7-EB73-70E34DD5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cs-CZ" dirty="0"/>
              <a:t>Princip snímání barev</a:t>
            </a:r>
          </a:p>
        </p:txBody>
      </p: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4">
            <a:extLst>
              <a:ext uri="{FF2B5EF4-FFF2-40B4-BE49-F238E27FC236}">
                <a16:creationId xmlns:a16="http://schemas.microsoft.com/office/drawing/2014/main" id="{8200B20C-E3DB-6645-DA79-E095787ED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4088" y="2231136"/>
            <a:ext cx="5195889" cy="39319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Tři základní barvy: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RGB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rozeznávání barev:</a:t>
            </a:r>
            <a:endParaRPr kumimoji="0" lang="cs-CZ" altLang="cs-CZ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cs-CZ" altLang="cs-CZ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Tříprůchodové snímání (</a:t>
            </a:r>
            <a:r>
              <a:rPr kumimoji="0" lang="cs-CZ" altLang="cs-CZ" sz="1700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stavrší</a:t>
            </a:r>
            <a:r>
              <a:rPr kumimoji="0" lang="cs-CZ" altLang="cs-CZ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/ dražší):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Předloha se nasvítí třikrát za sebou přes červený, zelený a modrý filtr.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Jednoprůchodové snímání (moderní standard):</a:t>
            </a:r>
            <a:endParaRPr kumimoji="0" lang="cs-CZ" altLang="cs-CZ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Používá se buď </a:t>
            </a:r>
            <a:r>
              <a:rPr kumimoji="0" lang="cs-CZ" altLang="cs-CZ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třířádkové CCD čidlo</a:t>
            </a: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(každý řádek má vlastní RGB filtr),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nebo se velmi rychle střídají barvy světelného zdroje (RGB LED diody) při jednom průjezdu hlavy.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cs-CZ" altLang="cs-CZ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30" name="Picture 6" descr="Rgb color wheel spectrum selector picker rgb palette logo color rainbow ...">
            <a:extLst>
              <a:ext uri="{FF2B5EF4-FFF2-40B4-BE49-F238E27FC236}">
                <a16:creationId xmlns:a16="http://schemas.microsoft.com/office/drawing/2014/main" id="{F5091EA8-176F-E5D1-328C-0ED881337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2" r="3018"/>
          <a:stretch>
            <a:fillRect/>
          </a:stretch>
        </p:blipFill>
        <p:spPr bwMode="auto">
          <a:xfrm>
            <a:off x="6420752" y="731520"/>
            <a:ext cx="5055865" cy="5422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873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EE60C0-877C-BD5F-DD16-A75E233A2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cs-CZ" dirty="0"/>
              <a:t>Parametry skenerů</a:t>
            </a:r>
            <a:endParaRPr lang="cs-CZ"/>
          </a:p>
        </p:txBody>
      </p:sp>
      <p:pic>
        <p:nvPicPr>
          <p:cNvPr id="3" name="Picture 2" descr="Plošné skenery | microform.sk">
            <a:extLst>
              <a:ext uri="{FF2B5EF4-FFF2-40B4-BE49-F238E27FC236}">
                <a16:creationId xmlns:a16="http://schemas.microsoft.com/office/drawing/2014/main" id="{2A2DC0D8-68EB-6DBC-5469-6CB126684F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10" r="24411" b="2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F907730-9971-CA0A-7031-C170F40BBC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66968" y="2221992"/>
            <a:ext cx="6627924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Barevná hloubka:</a:t>
            </a:r>
            <a:endParaRPr kumimoji="0" lang="cs-CZ" altLang="cs-CZ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cs-CZ" altLang="cs-CZ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Určuje, kolika bity je popsaná jedna barva (např. 24 bitů = 8 bitů pro každou složku R, G, B = 16,7 milionu barev; profesionální skenery mají 36 až 48 bitů).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Formát snímané plochy:</a:t>
            </a:r>
            <a:endParaRPr kumimoji="0" lang="cs-CZ" altLang="cs-CZ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cs-CZ" altLang="cs-CZ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Maximální velikost dokumentu, kterou lze naskenovat (nejčastěji A4, A3).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cs-CZ" altLang="cs-CZ" b="1" i="0" u="none" strike="noStrike" cap="none" normalizeH="0" baseline="0" err="1">
                <a:ln>
                  <a:noFill/>
                </a:ln>
                <a:effectLst/>
                <a:latin typeface="Arial"/>
                <a:cs typeface="Arial"/>
              </a:rPr>
              <a:t>Denzita</a:t>
            </a:r>
            <a:r>
              <a:rPr kumimoji="0" lang="cs-CZ" altLang="cs-CZ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 (optická hustota):</a:t>
            </a:r>
            <a:endParaRPr kumimoji="0" lang="cs-CZ" altLang="cs-CZ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cs-CZ" altLang="cs-CZ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Schopnost skeneru rozlišit detaily v tmavých a světlých místech (kritické pro skenování filmů a negativů).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cs-CZ" altLang="cs-CZ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67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2D6BD34-A71F-3339-7484-1FF65FD17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cs-CZ" dirty="0"/>
              <a:t>Parametry skenerů</a:t>
            </a:r>
          </a:p>
        </p:txBody>
      </p:sp>
      <p:pic>
        <p:nvPicPr>
          <p:cNvPr id="4" name="Picture 3" descr="Bubnový scanner Scanmate | FotoAparát.cz">
            <a:extLst>
              <a:ext uri="{FF2B5EF4-FFF2-40B4-BE49-F238E27FC236}">
                <a16:creationId xmlns:a16="http://schemas.microsoft.com/office/drawing/2014/main" id="{3459B44E-0574-1ACF-10C9-3B91180EF9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33" r="18051" b="-1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9E1BC8C-3F50-DA82-FAEB-F4BED1A11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cs-CZ" altLang="cs-CZ" b="1">
                <a:latin typeface="Arial" panose="020B0604020202020204" pitchFamily="34" charset="0"/>
              </a:rPr>
              <a:t>Rychlost snímání:</a:t>
            </a:r>
            <a:endParaRPr lang="cs-CZ" altLang="cs-CZ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cs-CZ" altLang="cs-CZ">
                <a:latin typeface="Arial" panose="020B0604020202020204" pitchFamily="34" charset="0"/>
              </a:rPr>
              <a:t>Udává se v sekundách na stránku nebo v deskách za minutu (u podavačů).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cs-CZ" altLang="cs-CZ" b="1">
                <a:latin typeface="Arial" panose="020B0604020202020204" pitchFamily="34" charset="0"/>
              </a:rPr>
              <a:t>Rozhraní připojení:</a:t>
            </a:r>
            <a:endParaRPr lang="cs-CZ" altLang="cs-CZ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cs-CZ" altLang="cs-CZ" dirty="0">
                <a:latin typeface="Arial" panose="020B0604020202020204" pitchFamily="34" charset="0"/>
              </a:rPr>
              <a:t>USB (2.0, 3.0, Type-C), síťové připojení Ethernet (LAN) nebo bezdrátové Wi-Fi.</a:t>
            </a:r>
            <a:endParaRPr lang="cs-CZ" altLang="cs-CZ">
              <a:latin typeface="Arial" panose="020B0604020202020204" pitchFamily="34" charset="0"/>
            </a:endParaRPr>
          </a:p>
          <a:p>
            <a:endParaRPr lang="cs-CZ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775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5814ECE-2D53-E2DB-7466-C752B4FD3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pl-PL" sz="3600"/>
              <a:t>Dataprojektory – Druhy</a:t>
            </a:r>
            <a:endParaRPr lang="cs-CZ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4BBEDA83-7989-F358-BA8C-76F5789B73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4088" y="2387600"/>
            <a:ext cx="3799763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cs-CZ" altLang="cs-CZ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Druhy podle použití:</a:t>
            </a:r>
            <a:endParaRPr kumimoji="0" lang="cs-CZ" altLang="cs-CZ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cs-CZ" altLang="cs-CZ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Kancelářské a školní:</a:t>
            </a:r>
            <a:r>
              <a:rPr kumimoji="0" lang="cs-CZ" altLang="cs-CZ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Vysoký jas (lumeny), nižší rozlišení, odolné.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cs-CZ" altLang="cs-CZ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 domácí kino:</a:t>
            </a:r>
            <a:r>
              <a:rPr kumimoji="0" lang="cs-CZ" altLang="cs-CZ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Důraz na vysoký kontrast, tichý chod a věrné podání barev.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cs-CZ" altLang="cs-CZ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Instalační:</a:t>
            </a:r>
            <a:r>
              <a:rPr kumimoji="0" lang="cs-CZ" altLang="cs-CZ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Pro velké sály, vysoký výkon, výměnné objektivy.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cs-CZ" altLang="cs-CZ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Ultra-krátká projekce:</a:t>
            </a:r>
            <a:r>
              <a:rPr kumimoji="0" lang="cs-CZ" altLang="cs-CZ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Umístění těsně u stěny</a:t>
            </a:r>
          </a:p>
        </p:txBody>
      </p:sp>
      <p:pic>
        <p:nvPicPr>
          <p:cNvPr id="3" name="Picture 2" descr="Projektory STRONG - Heureka.cz">
            <a:extLst>
              <a:ext uri="{FF2B5EF4-FFF2-40B4-BE49-F238E27FC236}">
                <a16:creationId xmlns:a16="http://schemas.microsoft.com/office/drawing/2014/main" id="{D5559BC6-E9FD-2E7B-C77E-8839690FC2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425" r="2" b="3134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658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5872FF0-813C-A083-A486-AB44ED43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pl-PL" sz="3600"/>
              <a:t>Dataprojektory – Typ (LCD)</a:t>
            </a:r>
            <a:endParaRPr lang="cs-CZ" sz="36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06AE2C45-3EE9-0CDE-3882-6243767AFA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4088" y="2387600"/>
            <a:ext cx="3799763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cs-CZ" altLang="cs-CZ" sz="15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Technologie LCD (Liquid Crystal Display):</a:t>
            </a:r>
            <a:endParaRPr kumimoji="0" lang="cs-CZ" altLang="cs-CZ" sz="15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cs-CZ" altLang="cs-CZ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Světlo se rozdělí pomocí dichroických zrcadel na RGB, z nichž každá prochází vlastním LCD panelem.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cs-CZ" altLang="cs-CZ" sz="15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Výhody:</a:t>
            </a:r>
            <a:r>
              <a:rPr kumimoji="0" lang="cs-CZ" altLang="cs-CZ" sz="15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endParaRPr lang="cs-CZ" altLang="cs-CZ" sz="1500">
              <a:latin typeface="Arial"/>
              <a:cs typeface="Arial"/>
            </a:endParaRP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cs-CZ" altLang="cs-CZ" sz="15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Věrnější, jasnější a sytější </a:t>
            </a:r>
            <a:r>
              <a:rPr lang="cs-CZ" altLang="cs-CZ" sz="1500">
                <a:latin typeface="Arial"/>
                <a:cs typeface="Arial"/>
              </a:rPr>
              <a:t>barvy</a:t>
            </a:r>
            <a:endParaRPr lang="cs-CZ" sz="1500">
              <a:latin typeface="Arial"/>
              <a:cs typeface="Arial"/>
            </a:endParaRP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cs-CZ" altLang="cs-CZ" sz="1500">
                <a:latin typeface="Arial"/>
                <a:cs typeface="Arial"/>
              </a:rPr>
              <a:t>klidný</a:t>
            </a:r>
            <a:r>
              <a:rPr kumimoji="0" lang="cs-CZ" altLang="cs-CZ" sz="15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 obraz</a:t>
            </a:r>
            <a:endParaRPr lang="cs-CZ" sz="1500">
              <a:latin typeface="Arial"/>
              <a:cs typeface="Arial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cs-CZ" altLang="cs-CZ" sz="15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Nevýhody:</a:t>
            </a:r>
            <a:endParaRPr lang="cs-CZ" altLang="cs-CZ" sz="1500" b="1">
              <a:latin typeface="Arial"/>
              <a:cs typeface="Arial"/>
            </a:endParaRP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cs-CZ" altLang="cs-CZ" sz="15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Nižší kontrast</a:t>
            </a:r>
            <a:endParaRPr lang="cs-CZ" sz="1500">
              <a:latin typeface="Calisto MT"/>
              <a:cs typeface="Arial"/>
            </a:endParaRP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cs-CZ" altLang="cs-CZ" sz="15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viditelná struktura pixelů (mřížka</a:t>
            </a:r>
            <a:r>
              <a:rPr lang="cs-CZ" altLang="cs-CZ" sz="1500">
                <a:latin typeface="Arial"/>
                <a:cs typeface="Arial"/>
              </a:rPr>
              <a:t>)</a:t>
            </a:r>
            <a:endParaRPr lang="cs-CZ" sz="150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cs-CZ" altLang="cs-CZ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9350B0-F3A4-5F88-2256-11D78A4E8C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87" r="6628" b="-3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97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F504C68-AC97-1B74-A045-2B1386D8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altLang="cs-CZ" sz="2500">
                <a:latin typeface="Arial" panose="020B0604020202020204" pitchFamily="34" charset="0"/>
              </a:rPr>
              <a:t>Dataprojektory – typ (DLP)</a:t>
            </a:r>
            <a:br>
              <a:rPr lang="cs-CZ" altLang="cs-CZ" sz="2500">
                <a:latin typeface="Arial" panose="020B0604020202020204" pitchFamily="34" charset="0"/>
              </a:rPr>
            </a:br>
            <a:endParaRPr lang="cs-CZ" sz="25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JMGO N1S Nano - Full HD HDR LED Beamer | HEIMKINO.de Tuning Edition">
            <a:extLst>
              <a:ext uri="{FF2B5EF4-FFF2-40B4-BE49-F238E27FC236}">
                <a16:creationId xmlns:a16="http://schemas.microsoft.com/office/drawing/2014/main" id="{632D23DC-5605-64DA-5019-56859FEA9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441653"/>
            <a:ext cx="6072188" cy="3567410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5F8E687-7F3D-783F-E8E4-803DF1230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cs-CZ" altLang="cs-CZ" b="1">
                <a:latin typeface="Arial"/>
                <a:cs typeface="Arial"/>
              </a:rPr>
              <a:t>Technologie DLP (Digital Light Processing):</a:t>
            </a:r>
            <a:endParaRPr lang="cs-CZ" altLang="cs-CZ">
              <a:latin typeface="Arial"/>
              <a:cs typeface="Arial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cs-CZ" altLang="cs-CZ">
                <a:latin typeface="Arial" panose="020B0604020202020204" pitchFamily="34" charset="0"/>
              </a:rPr>
              <a:t>čip DMD s miliony mikroskopických zrcadel a rotující barevný kotouč.</a:t>
            </a:r>
            <a:endParaRPr lang="cs-CZ" altLang="cs-CZ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cs-CZ" altLang="cs-CZ" b="1">
                <a:latin typeface="Arial"/>
                <a:cs typeface="Arial"/>
              </a:rPr>
              <a:t>Výhody: </a:t>
            </a:r>
            <a:endParaRPr lang="cs-CZ" altLang="cs-CZ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</a:pPr>
            <a:r>
              <a:rPr lang="cs-CZ" altLang="cs-CZ">
                <a:latin typeface="Arial"/>
                <a:cs typeface="Arial"/>
              </a:rPr>
              <a:t>Vysoký kontrast</a:t>
            </a:r>
            <a:endParaRPr lang="cs-CZ" altLang="cs-CZ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</a:pPr>
            <a:r>
              <a:rPr lang="cs-CZ" altLang="cs-CZ">
                <a:latin typeface="Arial"/>
                <a:cs typeface="Arial"/>
              </a:rPr>
              <a:t> ostrý obraz</a:t>
            </a:r>
            <a:endParaRPr lang="cs-CZ" altLang="cs-CZ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</a:pPr>
            <a:r>
              <a:rPr lang="cs-CZ" altLang="cs-CZ">
                <a:latin typeface="Arial"/>
                <a:cs typeface="Arial"/>
              </a:rPr>
              <a:t>věrná černá</a:t>
            </a:r>
            <a:endParaRPr lang="cs-CZ" altLang="cs-CZ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</a:pPr>
            <a:r>
              <a:rPr lang="cs-CZ" altLang="cs-CZ">
                <a:latin typeface="Arial"/>
                <a:cs typeface="Arial"/>
              </a:rPr>
              <a:t> menší rozměry.</a:t>
            </a:r>
            <a:endParaRPr lang="cs-CZ" altLang="cs-CZ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cs-CZ" altLang="cs-CZ" b="1">
                <a:latin typeface="Arial"/>
                <a:cs typeface="Arial"/>
              </a:rPr>
              <a:t>Nevýhody:</a:t>
            </a:r>
          </a:p>
          <a:p>
            <a:pPr marL="742950" lvl="1" indent="-285750">
              <a:spcBef>
                <a:spcPct val="0"/>
              </a:spcBef>
              <a:spcAft>
                <a:spcPct val="0"/>
              </a:spcAft>
            </a:pPr>
            <a:r>
              <a:rPr lang="cs-CZ" altLang="cs-CZ">
                <a:latin typeface="Arial"/>
                <a:cs typeface="Arial"/>
              </a:rPr>
              <a:t>duhový efekt (rychlé blikání barev v očích citlivých diváků).</a:t>
            </a:r>
            <a:endParaRPr lang="cs-CZ"/>
          </a:p>
          <a:p>
            <a:endParaRPr lang="cs-CZ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73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FFC51F8-DBAE-BD4D-5898-5E0BED74B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cs-CZ" dirty="0"/>
              <a:t>Dataprojektory – typ (led)</a:t>
            </a:r>
            <a:endParaRPr lang="cs-CZ"/>
          </a:p>
        </p:txBody>
      </p:sp>
      <p:pic>
        <p:nvPicPr>
          <p:cNvPr id="4" name="Picture 3" descr="LED projektor 720p s Wi-Fi a Androidem 6.0">
            <a:extLst>
              <a:ext uri="{FF2B5EF4-FFF2-40B4-BE49-F238E27FC236}">
                <a16:creationId xmlns:a16="http://schemas.microsoft.com/office/drawing/2014/main" id="{4D75B445-438B-B7EB-B7BD-177A01A1DA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427" b="2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5A3358D-811C-9839-7943-356AE544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1900">
                <a:ea typeface="+mn-lt"/>
                <a:cs typeface="+mn-lt"/>
              </a:rPr>
              <a:t>Světelným zdrojem jsou LED diody.</a:t>
            </a:r>
            <a:endParaRPr lang="cs-CZ" sz="1900"/>
          </a:p>
          <a:p>
            <a:pPr marL="0" indent="0">
              <a:lnSpc>
                <a:spcPct val="100000"/>
              </a:lnSpc>
              <a:buNone/>
            </a:pPr>
            <a:r>
              <a:rPr lang="cs-CZ" sz="1900" b="1">
                <a:ea typeface="+mn-lt"/>
                <a:cs typeface="+mn-lt"/>
              </a:rPr>
              <a:t>výhody</a:t>
            </a:r>
          </a:p>
          <a:p>
            <a:pPr>
              <a:lnSpc>
                <a:spcPct val="100000"/>
              </a:lnSpc>
            </a:pPr>
            <a:r>
              <a:rPr lang="cs-CZ" sz="1900">
                <a:ea typeface="+mn-lt"/>
                <a:cs typeface="+mn-lt"/>
              </a:rPr>
              <a:t>Dlouhá životnost (desítky tisíc hodin).</a:t>
            </a:r>
            <a:endParaRPr lang="cs-CZ" sz="1900"/>
          </a:p>
          <a:p>
            <a:pPr>
              <a:lnSpc>
                <a:spcPct val="100000"/>
              </a:lnSpc>
            </a:pPr>
            <a:r>
              <a:rPr lang="cs-CZ" sz="1900">
                <a:ea typeface="+mn-lt"/>
                <a:cs typeface="+mn-lt"/>
              </a:rPr>
              <a:t>Nízká spotřeba a méně tepla.</a:t>
            </a:r>
            <a:endParaRPr lang="cs-CZ" sz="1900"/>
          </a:p>
          <a:p>
            <a:pPr>
              <a:lnSpc>
                <a:spcPct val="100000"/>
              </a:lnSpc>
            </a:pPr>
            <a:r>
              <a:rPr lang="cs-CZ" sz="1900">
                <a:ea typeface="+mn-lt"/>
                <a:cs typeface="+mn-lt"/>
              </a:rPr>
              <a:t>Rychlé zapnutí a vypnutí.</a:t>
            </a:r>
            <a:endParaRPr lang="cs-CZ" sz="1900"/>
          </a:p>
          <a:p>
            <a:pPr>
              <a:lnSpc>
                <a:spcPct val="100000"/>
              </a:lnSpc>
            </a:pPr>
            <a:r>
              <a:rPr lang="cs-CZ" sz="1900">
                <a:ea typeface="+mn-lt"/>
                <a:cs typeface="+mn-lt"/>
              </a:rPr>
              <a:t>Dobré podání barev.</a:t>
            </a:r>
            <a:endParaRPr lang="cs-CZ" sz="1900"/>
          </a:p>
          <a:p>
            <a:pPr marL="0" indent="0">
              <a:lnSpc>
                <a:spcPct val="100000"/>
              </a:lnSpc>
              <a:buNone/>
            </a:pPr>
            <a:r>
              <a:rPr lang="cs-CZ" sz="1900" b="1">
                <a:ea typeface="+mn-lt"/>
                <a:cs typeface="+mn-lt"/>
              </a:rPr>
              <a:t>Nevýhody</a:t>
            </a:r>
          </a:p>
          <a:p>
            <a:pPr>
              <a:lnSpc>
                <a:spcPct val="100000"/>
              </a:lnSpc>
            </a:pPr>
            <a:r>
              <a:rPr lang="cs-CZ" sz="1900">
                <a:ea typeface="+mn-lt"/>
                <a:cs typeface="+mn-lt"/>
              </a:rPr>
              <a:t> může být nižší jas oproti některým klasickým projektorům.</a:t>
            </a:r>
            <a:endParaRPr lang="cs-CZ" sz="1900"/>
          </a:p>
          <a:p>
            <a:pPr>
              <a:lnSpc>
                <a:spcPct val="100000"/>
              </a:lnSpc>
            </a:pPr>
            <a:r>
              <a:rPr lang="cs-CZ" sz="1900">
                <a:ea typeface="+mn-lt"/>
                <a:cs typeface="+mn-lt"/>
              </a:rPr>
              <a:t>LED může být použito s technologií DLP nebo LCD.</a:t>
            </a:r>
            <a:endParaRPr lang="cs-CZ" sz="1900"/>
          </a:p>
          <a:p>
            <a:pPr>
              <a:lnSpc>
                <a:spcPct val="100000"/>
              </a:lnSpc>
            </a:pPr>
            <a:endParaRPr lang="cs-CZ" sz="19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974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656CBA0-274A-DB22-54AA-8B1869BF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023657"/>
            <a:ext cx="3794760" cy="2110444"/>
          </a:xfrm>
        </p:spPr>
        <p:txBody>
          <a:bodyPr>
            <a:normAutofit/>
          </a:bodyPr>
          <a:lstStyle/>
          <a:p>
            <a:r>
              <a:rPr lang="pl-PL" sz="3400"/>
              <a:t>Dataprojektory - výrobci a ceny</a:t>
            </a:r>
            <a:endParaRPr lang="cs-CZ" sz="3400"/>
          </a:p>
        </p:txBody>
      </p:sp>
      <p:pic>
        <p:nvPicPr>
          <p:cNvPr id="5122" name="Picture 2" descr="Optoma HD146X dataprojektor Stropní/podlahový | Kaufland.cz">
            <a:extLst>
              <a:ext uri="{FF2B5EF4-FFF2-40B4-BE49-F238E27FC236}">
                <a16:creationId xmlns:a16="http://schemas.microsoft.com/office/drawing/2014/main" id="{FE78DC55-6395-DDFF-6E64-33AA7ADFB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59" r="2" b="16543"/>
          <a:stretch>
            <a:fillRect/>
          </a:stretch>
        </p:blipFill>
        <p:spPr bwMode="auto">
          <a:xfrm>
            <a:off x="800100" y="717656"/>
            <a:ext cx="105918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29" name="Straight Connector 5128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B2C5C82-D6BC-FD8F-E609-5E0428305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0933" y="4088705"/>
            <a:ext cx="6135924" cy="2093976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cs-CZ" altLang="cs-CZ" b="1" dirty="0">
                <a:latin typeface="Arial" panose="020B0604020202020204" pitchFamily="34" charset="0"/>
              </a:rPr>
              <a:t>Hlavní výrobci:</a:t>
            </a:r>
            <a:endParaRPr lang="cs-CZ" altLang="cs-CZ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cs-CZ" altLang="cs-CZ">
                <a:latin typeface="Arial" panose="020B0604020202020204" pitchFamily="34" charset="0"/>
              </a:rPr>
              <a:t>Epson, </a:t>
            </a:r>
            <a:r>
              <a:rPr lang="cs-CZ" altLang="cs-CZ" err="1">
                <a:latin typeface="Arial" panose="020B0604020202020204" pitchFamily="34" charset="0"/>
              </a:rPr>
              <a:t>BenQ</a:t>
            </a:r>
            <a:r>
              <a:rPr lang="cs-CZ" altLang="cs-CZ">
                <a:latin typeface="Arial" panose="020B0604020202020204" pitchFamily="34" charset="0"/>
              </a:rPr>
              <a:t>, </a:t>
            </a:r>
            <a:r>
              <a:rPr lang="cs-CZ" altLang="cs-CZ" err="1">
                <a:latin typeface="Arial" panose="020B0604020202020204" pitchFamily="34" charset="0"/>
              </a:rPr>
              <a:t>Optoma</a:t>
            </a:r>
            <a:r>
              <a:rPr lang="cs-CZ" altLang="cs-CZ">
                <a:latin typeface="Arial" panose="020B0604020202020204" pitchFamily="34" charset="0"/>
              </a:rPr>
              <a:t>, </a:t>
            </a:r>
            <a:r>
              <a:rPr lang="cs-CZ" altLang="cs-CZ" err="1">
                <a:latin typeface="Arial" panose="020B0604020202020204" pitchFamily="34" charset="0"/>
              </a:rPr>
              <a:t>ViewSonic</a:t>
            </a:r>
            <a:r>
              <a:rPr lang="cs-CZ" altLang="cs-CZ">
                <a:latin typeface="Arial" panose="020B0604020202020204" pitchFamily="34" charset="0"/>
              </a:rPr>
              <a:t>, Sony, Acer.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cs-CZ" altLang="cs-CZ" b="1">
                <a:latin typeface="Arial" panose="020B0604020202020204" pitchFamily="34" charset="0"/>
              </a:rPr>
              <a:t>Cenové kategorie:</a:t>
            </a:r>
            <a:endParaRPr lang="cs-CZ" altLang="cs-CZ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cs-CZ" altLang="cs-CZ" b="1">
                <a:latin typeface="Arial" panose="020B0604020202020204" pitchFamily="34" charset="0"/>
              </a:rPr>
              <a:t>Základní / Kancelářské:</a:t>
            </a:r>
            <a:r>
              <a:rPr lang="cs-CZ" altLang="cs-CZ">
                <a:latin typeface="Arial" panose="020B0604020202020204" pitchFamily="34" charset="0"/>
              </a:rPr>
              <a:t> cca 10 000 – 20 000 Kč.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cs-CZ" altLang="cs-CZ" b="1">
                <a:latin typeface="Arial" panose="020B0604020202020204" pitchFamily="34" charset="0"/>
              </a:rPr>
              <a:t>Domácí kino / Pokročilé:</a:t>
            </a:r>
            <a:r>
              <a:rPr lang="cs-CZ" altLang="cs-CZ">
                <a:latin typeface="Arial" panose="020B0604020202020204" pitchFamily="34" charset="0"/>
              </a:rPr>
              <a:t> 20 000 – 60 000 Kč.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cs-CZ" altLang="cs-CZ" b="1">
                <a:latin typeface="Arial" panose="020B0604020202020204" pitchFamily="34" charset="0"/>
              </a:rPr>
              <a:t>Profesionální / Instalační:</a:t>
            </a:r>
            <a:r>
              <a:rPr lang="cs-CZ" altLang="cs-CZ">
                <a:latin typeface="Arial" panose="020B0604020202020204" pitchFamily="34" charset="0"/>
              </a:rPr>
              <a:t> 60 000 Kč a více.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20406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BC0959-03B6-9064-9B14-3E69F46A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Děkuji za pozornost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C733AB-83A8-0611-CC35-A7828C9BE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657600" lvl="8" indent="0">
              <a:buNone/>
            </a:pPr>
            <a:r>
              <a:rPr lang="cs-CZ" dirty="0">
                <a:sym typeface="Wingdings" panose="05000000000000000000" pitchFamily="2" charset="2"/>
              </a:rPr>
              <a:t>		</a:t>
            </a:r>
          </a:p>
          <a:p>
            <a:pPr marL="3657600" lvl="8" indent="0">
              <a:buNone/>
            </a:pPr>
            <a:endParaRPr lang="cs-CZ" dirty="0">
              <a:sym typeface="Wingdings" panose="05000000000000000000" pitchFamily="2" charset="2"/>
            </a:endParaRPr>
          </a:p>
          <a:p>
            <a:pPr marL="3657600" lvl="8" indent="0">
              <a:buNone/>
            </a:pPr>
            <a:endParaRPr lang="cs-CZ" dirty="0">
              <a:sym typeface="Wingdings" panose="05000000000000000000" pitchFamily="2" charset="2"/>
            </a:endParaRPr>
          </a:p>
          <a:p>
            <a:pPr marL="3657600" lvl="8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40360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8EF04D-51B6-9FED-2C6F-1DAF3135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7A1A46-0D29-DA05-FA1A-198B57A46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hlinkClick r:id="rId2"/>
              </a:rPr>
              <a:t>DLP vs. LCD vs. LED Projectors: A Comprehensive Guide - Projectors Geek</a:t>
            </a:r>
            <a:endParaRPr lang="cs-CZ" dirty="0"/>
          </a:p>
          <a:p>
            <a:r>
              <a:rPr lang="en-US" dirty="0">
                <a:ea typeface="+mn-lt"/>
                <a:cs typeface="+mn-lt"/>
                <a:hlinkClick r:id="rId3"/>
              </a:rPr>
              <a:t>https://www.epson.cz/cs_CZ/produkty/projector/c/projector?.com</a:t>
            </a:r>
          </a:p>
          <a:p>
            <a:r>
              <a:rPr lang="en-US" dirty="0">
                <a:ea typeface="+mn-lt"/>
                <a:cs typeface="+mn-lt"/>
                <a:hlinkClick r:id="rId4"/>
              </a:rPr>
              <a:t>https://www.hp.com/in-en/tech-takes/printers/guide/how-to-pick-best-scanner.html?.com</a:t>
            </a:r>
          </a:p>
          <a:p>
            <a:r>
              <a:rPr lang="en-US" dirty="0">
                <a:ea typeface="+mn-lt"/>
                <a:cs typeface="+mn-lt"/>
                <a:hlinkClick r:id="rId5"/>
              </a:rPr>
              <a:t>https://global.canon/en/technology/s_labo/light/003/07.html?.com</a:t>
            </a:r>
          </a:p>
          <a:p>
            <a:r>
              <a:rPr lang="en-US" dirty="0">
                <a:ea typeface="+mn-lt"/>
                <a:cs typeface="+mn-lt"/>
                <a:hlinkClick r:id="rId6"/>
              </a:rPr>
              <a:t>https://www.canada.ca/en/heritage-information-network/services/digitization/scan-reflective-objects.html?.com</a:t>
            </a: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084679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A4ED5BD5C5A4C4DBDDE9F851E875EB5" ma:contentTypeVersion="9" ma:contentTypeDescription="Vytvoří nový dokument" ma:contentTypeScope="" ma:versionID="cbb756149b5c5cbf8332981171ff7ae5">
  <xsd:schema xmlns:xsd="http://www.w3.org/2001/XMLSchema" xmlns:xs="http://www.w3.org/2001/XMLSchema" xmlns:p="http://schemas.microsoft.com/office/2006/metadata/properties" xmlns:ns3="2746c3a9-fc23-4bf1-8eec-a677fa20e938" targetNamespace="http://schemas.microsoft.com/office/2006/metadata/properties" ma:root="true" ma:fieldsID="4d06d79cb634bb4565a842cb62712929" ns3:_="">
    <xsd:import namespace="2746c3a9-fc23-4bf1-8eec-a677fa20e93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46c3a9-fc23-4bf1-8eec-a677fa20e93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46c3a9-fc23-4bf1-8eec-a677fa20e938" xsi:nil="true"/>
  </documentManagement>
</p:properties>
</file>

<file path=customXml/itemProps1.xml><?xml version="1.0" encoding="utf-8"?>
<ds:datastoreItem xmlns:ds="http://schemas.openxmlformats.org/officeDocument/2006/customXml" ds:itemID="{6D430F14-072A-4379-A5E8-A2417290D4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3B74C3-49DF-4131-B798-1E6F26532A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46c3a9-fc23-4bf1-8eec-a677fa20e9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02A8C78-19BF-4C88-A254-D5EF7276AA25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2746c3a9-fc23-4bf1-8eec-a677fa20e938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743</Words>
  <Application>Microsoft Office PowerPoint</Application>
  <PresentationFormat>Widescreen</PresentationFormat>
  <Paragraphs>79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ChronicleVTI</vt:lpstr>
      <vt:lpstr>PowerPoint Presentation</vt:lpstr>
      <vt:lpstr>Skenery – druhy </vt:lpstr>
      <vt:lpstr>Plošný skener – Detail a princip činnosti </vt:lpstr>
      <vt:lpstr> </vt:lpstr>
      <vt:lpstr>Princip snímání barev</vt:lpstr>
      <vt:lpstr>Parametry skenerů</vt:lpstr>
      <vt:lpstr>Parametry skenerů</vt:lpstr>
      <vt:lpstr>Dataprojektory – Druhy</vt:lpstr>
      <vt:lpstr>Dataprojektory – Typ (LCD)</vt:lpstr>
      <vt:lpstr>Dataprojektory – typ (DLP) </vt:lpstr>
      <vt:lpstr>Dataprojektory – typ (led)</vt:lpstr>
      <vt:lpstr>Dataprojektory - výrobci a ceny</vt:lpstr>
      <vt:lpstr>Děkuji za pozornost</vt:lpstr>
      <vt:lpstr>Zdroje: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Patrik Řehořek</dc:creator>
  <cp:lastModifiedBy>Patrik Řehořek</cp:lastModifiedBy>
  <cp:revision>99</cp:revision>
  <dcterms:created xsi:type="dcterms:W3CDTF">2026-10-01T05:57:52Z</dcterms:created>
  <dcterms:modified xsi:type="dcterms:W3CDTF">2026-10-07T20:18:05Z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0x010100BA4ED5BD5C5A4C4DBDDE9F851E875EB5</vt:lpwstr>
  </property>
</Properties>
</file>